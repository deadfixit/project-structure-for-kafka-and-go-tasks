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22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A9E799-211E-ACD8-C9BB-C831455E2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66354D-1DF5-8063-9656-A1B72AE91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0D7740-AA7A-0D9E-5F0B-6C57EC8C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54B99B-72C2-24CE-D9DB-66DAB237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FE2C03-9BC2-659F-3D83-9DBD35C9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89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8FF59F-74C8-FCB5-CA41-28AF224C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97D960-D189-EAD2-E1A1-A1AEF7788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214E68-307D-57C8-AE43-1F184632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BA5EC1-2FE3-D500-35EA-2B69A30C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641F11-6A0F-E77E-D36B-B2D36B25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158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6CFF49-8380-6DB2-EA8E-60617940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553C266-CEB0-7FE4-3C16-A59F31EA3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1C405C-9AE6-930C-BBE3-390948D9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5C7A381-A48A-384F-D5AB-5D8F82FD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A5AE2F-1B99-645E-E10E-66C7F50CC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7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6437B-046E-3805-FFBE-A35E83BC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6D6EF9-FDF0-784B-4A8C-892686DD4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DF854D-83C2-4B42-ACEC-F9D6C7CFF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AE0E53-56B4-E855-231B-8FF57962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5AEB76-9458-F02C-4055-4A898A96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934620-DE47-B1E5-E6A7-3EA2C45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479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7DFDBD-2CC5-C33D-4F12-EFDB8D0C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C586608-6445-8A5C-BD88-7F672B14A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90BCD0-CF39-DB3D-4B09-E4D29734D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8713B2B-F7C8-F8CD-7B8D-A116747F9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C55955-5BF1-6557-2E50-8A8C4D4C8E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8A60FD9-C7FF-F77C-CBF1-BC6661C3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C300778-A8ED-48D0-D9D6-4E0F9352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CC847F0-6982-ED17-9C42-B5B0AE48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017A7-FC22-EAFD-AC31-CD28A1DC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8A05C1-3F62-4B3D-31BA-40567847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B5F302-FC8D-F61F-4773-97CA8B9D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26AF39B-5938-C21A-2871-8B571B7D4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44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F97F74-092F-D587-160A-E7E33C1D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84D769-0EEB-3353-6D4F-810880ACE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E6D477-1C7E-2329-F28D-869D73B6C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791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EA723-9307-4A5D-8BBE-6C6457571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7FB58B-0BA9-65FE-444C-C6FF700DC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2DFD56-DBF3-BC49-E1BF-436D72BA2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4CAA10-788F-854A-5530-DAA477D9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08BF1B3-57CA-665C-8196-C25444026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4EE329-E515-E04C-E850-A8F6AFBC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891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B7E287-82E6-D402-9EA0-B474CD4D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0C0311B-31B8-B016-55E7-71CA6A5B0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7C0D561-225A-7669-9574-C55133E0C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9B9121-2FDB-7C90-37FD-980CE682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14E4CA-56AA-96D3-D970-FA3F5C77D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5B67C5-EB1C-8B90-0DFA-E7C88AA4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8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63E099-90E4-9F2F-5027-4C105AFD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C910F1-BA8D-7D73-DD02-DA0185E873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354E70-61BB-13A6-8788-0DFAE9718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1DBAD6-BA01-1F74-8DD3-8A6DA197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DF9F9-A724-4F2A-FBDC-A1BC3A658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963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3E0869F-4A88-1DB5-FE8C-2158EBA5A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89310B-7512-0EB0-B749-807D1D846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41C0E4-D6F7-B369-B0F3-BC89FCABD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471561-8972-856A-5602-2DD57C63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CE6300-FA32-4806-EBCF-34A0B5FF6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128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CB957E-F42D-F72C-D437-95FCD39E7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2B476C-5F07-44F8-791C-9A1D4316E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CA0CF0-5E4B-8A1F-45A5-6D706F137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6DCF9-0F94-407D-8C21-430426955ECB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FDFC2B-32F8-F12F-74D3-ABACA2BC36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18D124-CCAA-6592-61BD-738F200FE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A2226-4623-42D6-BDC0-F991DBA326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2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39E1DB-46CB-3CED-462F-AB4E4B58DD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и развертывание высоконагруженного сервиса с ИИ-оптимизацией на Go в Kubernetes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E55A66-7E32-7BA4-76EF-C82754E0C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27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9458E0-4E94-3E54-259F-65226E6B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и 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756DE-7023-6788-4F98-AA73E8FE3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Целью данной работы являлась разработка и развертывание высоконагруженного сервиса для обработки потоковых данных с использованием языка Go и контейнерной платформы Kubernetes.</a:t>
            </a:r>
            <a:br>
              <a:rPr lang="ru-RU" dirty="0"/>
            </a:br>
            <a:r>
              <a:rPr lang="ru-RU" dirty="0"/>
              <a:t>Сервис предназначен для приема метрик нагрузки, их обработки в реальном времени и выявления аномальных значений на основе простых статистических методов.</a:t>
            </a:r>
          </a:p>
          <a:p>
            <a:pPr marL="0" indent="0" algn="just">
              <a:buNone/>
            </a:pPr>
            <a:r>
              <a:rPr lang="ru-RU" dirty="0"/>
              <a:t>В рамках проекта акцент сделан на практическое применение </a:t>
            </a:r>
            <a:r>
              <a:rPr lang="ru-RU" dirty="0" err="1"/>
              <a:t>микросервисной</a:t>
            </a:r>
            <a:r>
              <a:rPr lang="ru-RU" dirty="0"/>
              <a:t> архитектуры, автоматического масштабирования и мониторинга, что является актуальным для современных распределённых систем.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092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424BC-494B-FC06-5AA5-4CDEBB1A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Используемый стек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9FD0C2-460C-66A5-1F49-9B47EBE7F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В ходе выполнения проекта был использован следующий стек технологий: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Язык программирования </a:t>
            </a:r>
            <a:r>
              <a:rPr lang="ru-RU" b="1" dirty="0"/>
              <a:t>Go 1.22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Контейнеризация: </a:t>
            </a:r>
            <a:r>
              <a:rPr lang="ru-RU" b="1" dirty="0"/>
              <a:t>Docker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Оркестрация: </a:t>
            </a:r>
            <a:r>
              <a:rPr lang="ru-RU" b="1" dirty="0"/>
              <a:t>Kubernetes (Docker Desktop Kubernetes)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Кэширование данных: </a:t>
            </a:r>
            <a:r>
              <a:rPr lang="ru-RU" b="1" dirty="0"/>
              <a:t>Redis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Мониторинг: </a:t>
            </a:r>
            <a:r>
              <a:rPr lang="ru-RU" b="1" dirty="0"/>
              <a:t>Prometheus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Визуализация метрик: </a:t>
            </a:r>
            <a:r>
              <a:rPr lang="ru-RU" b="1" dirty="0" err="1"/>
              <a:t>Grafana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Автоматическое масштабирование: </a:t>
            </a:r>
            <a:r>
              <a:rPr lang="ru-RU" b="1" dirty="0"/>
              <a:t>Horizontal Pod Autoscaler (HPA)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Выбор данного стека обусловлен его распространённостью и применимостью в промышленной разработке.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583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C6751E-BB5A-C952-33DC-AD4C4D0D5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926769-A288-4EB6-B106-1AD2B614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Архитектура проекта построена по </a:t>
            </a:r>
            <a:r>
              <a:rPr lang="ru-RU" dirty="0" err="1"/>
              <a:t>микросервисному</a:t>
            </a:r>
            <a:r>
              <a:rPr lang="ru-RU" dirty="0"/>
              <a:t> принципу.</a:t>
            </a:r>
            <a:br>
              <a:rPr lang="ru-RU" dirty="0"/>
            </a:br>
            <a:r>
              <a:rPr lang="ru-RU" dirty="0"/>
              <a:t>Основной сервис на Go принимает HTTP-запросы с метриками нагрузки и выполняет их анализ.</a:t>
            </a:r>
            <a:br>
              <a:rPr lang="ru-RU" dirty="0"/>
            </a:br>
            <a:r>
              <a:rPr lang="ru-RU" dirty="0"/>
              <a:t>Результаты аналитики сохраняются в Redis для быстрого доступа.</a:t>
            </a:r>
          </a:p>
          <a:p>
            <a:pPr marL="0" indent="0" algn="just">
              <a:buNone/>
            </a:pPr>
            <a:r>
              <a:rPr lang="ru-RU" dirty="0"/>
              <a:t>Компоненты развернуты в Kubernetes в виде отдельных подов и взаимодействуют через сервисы внутри кластера.</a:t>
            </a:r>
            <a:br>
              <a:rPr lang="ru-RU" dirty="0"/>
            </a:br>
            <a:r>
              <a:rPr lang="ru-RU" dirty="0"/>
              <a:t>Для масштабирования используется механизм HPA, реагирующий на загрузку CPU.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845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726C8-7196-7B90-0FF8-CEB99FE0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Функциональность сервиса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4239EB-F506-95D8-5D26-FEFDEDB95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449263" algn="just">
              <a:buNone/>
            </a:pPr>
            <a:r>
              <a:rPr lang="ru-RU" dirty="0"/>
              <a:t>Реализованный сервис предоставляет следующие возможности: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Прием метрик нагрузки в формате JSON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Вычисление скользящего среднего по окну из 50 значений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Детекция аномалий по методу z-score (порог 2σ)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Асинхронная обработка данных с использованием goroutines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Предоставление аналитических данных через HTTP-эндпоинты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Экспорт метрик в формате Prometheus</a:t>
            </a:r>
          </a:p>
          <a:p>
            <a:pPr marL="0" indent="449263" algn="just">
              <a:buNone/>
            </a:pPr>
            <a:r>
              <a:rPr lang="ru-RU" dirty="0"/>
              <a:t>Сервис ориентирован на обработку интенсивного потока запросов в реальном времени.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772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AF902-3980-829A-1B03-D45F17D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Контейнеризация и развертывание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AE4919-41EE-FC30-B35C-F2EA7D81D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449263" algn="just">
              <a:buNone/>
            </a:pPr>
            <a:r>
              <a:rPr lang="ru-RU" dirty="0"/>
              <a:t>Приложение было </a:t>
            </a:r>
            <a:r>
              <a:rPr lang="ru-RU" dirty="0" err="1"/>
              <a:t>контейнеризировано</a:t>
            </a:r>
            <a:r>
              <a:rPr lang="ru-RU" dirty="0"/>
              <a:t> с использованием Docker.</a:t>
            </a:r>
            <a:br>
              <a:rPr lang="ru-RU" dirty="0"/>
            </a:br>
            <a:r>
              <a:rPr lang="ru-RU" dirty="0"/>
              <a:t>Docker-образ содержит только скомпилированный бинарный файл, что позволило уменьшить его размер и ускорить запуск.</a:t>
            </a:r>
          </a:p>
          <a:p>
            <a:pPr marL="0" indent="449263" algn="just"/>
            <a:r>
              <a:rPr lang="ru-RU" dirty="0"/>
              <a:t>Развертывание выполнялось с помощью Kubernetes-манифестов: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Deployment для сервиса на Go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Deployment для Redis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Service типа ClusterIP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ConfigMap для конфигурации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HPA для масштабирования</a:t>
            </a:r>
          </a:p>
          <a:p>
            <a:pPr marL="0" indent="449263" algn="just">
              <a:buNone/>
            </a:pPr>
            <a:r>
              <a:rPr lang="ru-RU" dirty="0"/>
              <a:t>Корректность развертывания подтверждена состоянием подов Running.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431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DB118FE-56B1-4C80-2CB3-69D6D8BF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Масштабирование (</a:t>
            </a:r>
            <a:r>
              <a:rPr lang="en-US" dirty="0"/>
              <a:t>HPA)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B644C8BE-951E-D684-1915-23602DA617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449263" algn="just">
              <a:buNone/>
            </a:pPr>
            <a:r>
              <a:rPr lang="ru-RU" dirty="0"/>
              <a:t>Для автоматического масштабирования сервиса был настроен Horizontal Pod Autoscaler.</a:t>
            </a:r>
            <a:br>
              <a:rPr lang="ru-RU" dirty="0"/>
            </a:br>
            <a:r>
              <a:rPr lang="ru-RU" dirty="0"/>
              <a:t>Масштабирование осуществляется на основе загрузки CPU.</a:t>
            </a:r>
          </a:p>
          <a:p>
            <a:pPr marL="0" indent="449263" algn="just"/>
            <a:r>
              <a:rPr lang="ru-RU" dirty="0"/>
              <a:t>Параметры HPA: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Минимальное количество реплик: 2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Максимальное количество реплик: 5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Порог загрузки CPU: 70%</a:t>
            </a:r>
          </a:p>
          <a:p>
            <a:pPr marL="0" indent="449263" algn="just">
              <a:buNone/>
            </a:pPr>
            <a:r>
              <a:rPr lang="ru-RU" dirty="0"/>
              <a:t>При увеличении нагрузки Kubernetes автоматически добавляет новые реплики сервиса, обеспечивая стабильную работу приложения.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411C9733-1345-B59B-DBDA-D90C7FDA93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70654"/>
            <a:ext cx="5181600" cy="3061279"/>
          </a:xfrm>
        </p:spPr>
      </p:pic>
    </p:spTree>
    <p:extLst>
      <p:ext uri="{BB962C8B-B14F-4D97-AF65-F5344CB8AC3E}">
        <p14:creationId xmlns:p14="http://schemas.microsoft.com/office/powerpoint/2010/main" val="3512330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294FF-7DE2-631C-B04B-6E7F095A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Мониторинг </a:t>
            </a:r>
            <a:r>
              <a:rPr lang="en-US" dirty="0"/>
              <a:t>Prometheus </a:t>
            </a:r>
            <a:r>
              <a:rPr lang="ru-RU" dirty="0"/>
              <a:t>и </a:t>
            </a:r>
            <a:r>
              <a:rPr lang="en-US" dirty="0"/>
              <a:t>Grafana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4A3C50-EEC1-5DA3-E27C-7C753A1865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449263" algn="just">
              <a:buNone/>
            </a:pPr>
            <a:r>
              <a:rPr lang="ru-RU" dirty="0"/>
              <a:t>Для мониторинга состояния системы была развернута связка Prometheus и </a:t>
            </a:r>
            <a:r>
              <a:rPr lang="ru-RU" dirty="0" err="1"/>
              <a:t>Grafana</a:t>
            </a:r>
            <a:r>
              <a:rPr lang="ru-RU" dirty="0"/>
              <a:t> с использованием </a:t>
            </a:r>
            <a:r>
              <a:rPr lang="ru-RU" dirty="0" err="1"/>
              <a:t>Helm</a:t>
            </a:r>
            <a:r>
              <a:rPr lang="ru-RU" dirty="0"/>
              <a:t>-чарта </a:t>
            </a:r>
            <a:r>
              <a:rPr lang="ru-RU" dirty="0" err="1"/>
              <a:t>kube</a:t>
            </a:r>
            <a:r>
              <a:rPr lang="ru-RU" dirty="0"/>
              <a:t>-prometheus-stack.</a:t>
            </a:r>
          </a:p>
          <a:p>
            <a:pPr marL="0" indent="449263" algn="just"/>
            <a:r>
              <a:rPr lang="ru-RU" dirty="0"/>
              <a:t>Prometheus собирает метрики: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количество запросов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задержку обработки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количество обнаруженных аномалий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загрузку CPU и памяти подов</a:t>
            </a:r>
          </a:p>
          <a:p>
            <a:pPr marL="0" indent="449263" algn="just">
              <a:buNone/>
            </a:pPr>
            <a:r>
              <a:rPr lang="ru-RU" dirty="0" err="1"/>
              <a:t>Grafana</a:t>
            </a:r>
            <a:r>
              <a:rPr lang="ru-RU" dirty="0"/>
              <a:t> используется для визуализации данных и анализа поведения сервиса под нагрузкой.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F83A199E-3EFC-CF95-CE4F-B752E51B07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451707"/>
            <a:ext cx="5181600" cy="3099173"/>
          </a:xfrm>
        </p:spPr>
      </p:pic>
    </p:spTree>
    <p:extLst>
      <p:ext uri="{BB962C8B-B14F-4D97-AF65-F5344CB8AC3E}">
        <p14:creationId xmlns:p14="http://schemas.microsoft.com/office/powerpoint/2010/main" val="3097620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7591BD-6055-0B31-C009-2DFE0A00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Нагрузочное 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15BBF7-6444-BD35-9162-8354E86095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449263" algn="just">
              <a:buNone/>
            </a:pPr>
            <a:r>
              <a:rPr lang="ru-RU" dirty="0"/>
              <a:t>Для тестирования сервиса была реализована генерация нагрузки с использованием PowerShell.</a:t>
            </a:r>
            <a:br>
              <a:rPr lang="ru-RU" dirty="0"/>
            </a:br>
            <a:r>
              <a:rPr lang="ru-RU" dirty="0"/>
              <a:t>В процессе тестирования имитировался поток из тысяч HTTP-запросов с различными значениями метрик.</a:t>
            </a:r>
          </a:p>
          <a:p>
            <a:pPr marL="0" indent="449263" algn="just"/>
            <a:r>
              <a:rPr lang="ru-RU" dirty="0"/>
              <a:t>В ходе нагрузки: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сервис стабильно обрабатывал более 1000 запросов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задержка обработки оставалась в допустимых пределах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результаты аналитики корректно обновлялись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данные сохранялись в Redis без потерь</a:t>
            </a:r>
          </a:p>
          <a:p>
            <a:pPr marL="0" indent="449263" algn="just">
              <a:buNone/>
            </a:pPr>
            <a:r>
              <a:rPr lang="ru-RU" dirty="0"/>
              <a:t>Это подтверждает готовность сервиса к работе в условиях высокой нагрузки.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2195F4F-C39A-6AF5-9A06-66F96E2368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630842"/>
            <a:ext cx="5181600" cy="2740904"/>
          </a:xfrm>
        </p:spPr>
      </p:pic>
    </p:spTree>
    <p:extLst>
      <p:ext uri="{BB962C8B-B14F-4D97-AF65-F5344CB8AC3E}">
        <p14:creationId xmlns:p14="http://schemas.microsoft.com/office/powerpoint/2010/main" val="1883428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E5D0C15-72A1-5518-7046-33CC88194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 наблюдения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E39B561D-9C30-662F-F725-FEF67AB9A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49263" algn="just">
              <a:buNone/>
            </a:pPr>
            <a:r>
              <a:rPr lang="ru-RU" dirty="0"/>
              <a:t>По итогам выполнения проекта были получены следующие результаты: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реализован устойчивый high-load сервис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подтверждена работоспособность аналитики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обеспечено автоматическое масштабирование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настроен мониторинг и визуализация нагрузки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продемонстрирована интеграция Go и Kubernetes</a:t>
            </a:r>
          </a:p>
          <a:p>
            <a:pPr marL="0" indent="449263" algn="just">
              <a:buNone/>
            </a:pPr>
            <a:r>
              <a:rPr lang="ru-RU" dirty="0"/>
              <a:t>Проект показал, что даже простые статистические методы позволяют эффективно анализировать потоковые данные.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188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464AA1-C449-D8BD-BB45-19D659ED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Возникшие трудности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C52123-F07F-C361-6C4C-39E3D8E2D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49263" algn="just">
              <a:buNone/>
            </a:pPr>
            <a:r>
              <a:rPr lang="ru-RU" dirty="0"/>
              <a:t>В процессе работы возникали следующие сложности: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настройка мониторинга в локальном Kubernetes-кластере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корректная интеграция Redis в Kubernetes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диагностика проблем с </a:t>
            </a:r>
            <a:r>
              <a:rPr lang="ru-RU" dirty="0" err="1"/>
              <a:t>ImagePull</a:t>
            </a:r>
            <a:r>
              <a:rPr lang="ru-RU" dirty="0"/>
              <a:t> и метриками CPU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настройка port-forward и доступа к сервисам</a:t>
            </a:r>
          </a:p>
          <a:p>
            <a:pPr marL="0" indent="449263" algn="just">
              <a:buNone/>
            </a:pPr>
            <a:r>
              <a:rPr lang="ru-RU" dirty="0"/>
              <a:t>Все проблемы были успешно решены в ходе отладки и изучения документации.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1589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CC1325-3EB1-A0C5-2234-196A4AFFB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 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43C3A4-44AD-FF0D-33BC-9859B6A02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449263" algn="just">
              <a:buNone/>
            </a:pPr>
            <a:r>
              <a:rPr lang="ru-RU" dirty="0"/>
              <a:t>В рамках проекта была достигнута поставленная цель — создан и развернут высоконагруженный сервис с аналитикой нагрузки.</a:t>
            </a:r>
            <a:br>
              <a:rPr lang="ru-RU" dirty="0"/>
            </a:br>
            <a:r>
              <a:rPr lang="ru-RU" dirty="0"/>
              <a:t>Работа продемонстрировала практические навыки разработки на Go, работы с Kubernetes и системами мониторинга.</a:t>
            </a:r>
          </a:p>
          <a:p>
            <a:pPr marL="0" indent="449263" algn="just">
              <a:buNone/>
            </a:pPr>
            <a:r>
              <a:rPr lang="ru-RU" dirty="0"/>
              <a:t>В качестве дальнейшего развития проекта можно рассмотреть: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добавление </a:t>
            </a:r>
            <a:r>
              <a:rPr lang="ru-RU" dirty="0" err="1"/>
              <a:t>Alertmanager</a:t>
            </a:r>
            <a:endParaRPr lang="ru-RU" dirty="0"/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усложнение аналитических алгоритмов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хранение истории метрик</a:t>
            </a:r>
          </a:p>
          <a:p>
            <a:pPr marL="0" indent="449263" algn="just">
              <a:buFont typeface="Arial" panose="020B0604020202020204" pitchFamily="34" charset="0"/>
              <a:buChar char="•"/>
            </a:pPr>
            <a:r>
              <a:rPr lang="ru-RU" dirty="0"/>
              <a:t>развертывание сервиса в облачной инфраструктуре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2977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634</Words>
  <Application>Microsoft Office PowerPoint</Application>
  <PresentationFormat>Широкоэкранный</PresentationFormat>
  <Paragraphs>80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Разработка и развертывание высоконагруженного сервиса с ИИ-оптимизацией на Go в Kubernetes</vt:lpstr>
      <vt:lpstr>Введение и цель проекта</vt:lpstr>
      <vt:lpstr>Используемый стек технологий</vt:lpstr>
      <vt:lpstr>Архитектура решения</vt:lpstr>
      <vt:lpstr>Функциональность сервиса</vt:lpstr>
      <vt:lpstr>Контейнеризация и развертывание</vt:lpstr>
      <vt:lpstr>Масштабирование (HPA)</vt:lpstr>
      <vt:lpstr>Мониторинг Prometheus и Grafana</vt:lpstr>
      <vt:lpstr>Нагрузочное тестирование</vt:lpstr>
      <vt:lpstr>Результаты и наблюдения</vt:lpstr>
      <vt:lpstr>Возникшие трудности</vt:lpstr>
      <vt:lpstr>Заключение и перспективы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 server</dc:creator>
  <cp:lastModifiedBy>admin server</cp:lastModifiedBy>
  <cp:revision>1</cp:revision>
  <dcterms:created xsi:type="dcterms:W3CDTF">2025-12-26T13:53:13Z</dcterms:created>
  <dcterms:modified xsi:type="dcterms:W3CDTF">2025-12-26T14:01:54Z</dcterms:modified>
</cp:coreProperties>
</file>